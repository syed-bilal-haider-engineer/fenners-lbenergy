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OnQ (our controller)</c:v>
                </c:pt>
              </c:strCache>
            </c:strRef>
          </c:tx>
          <c:spPr>
            <a:solidFill>
              <a:srgbClr val="FF6148"/>
            </a:solidFill>
            <a:ln w="25400" cap="flat">
              <a:solidFill>
                <a:srgbClr val="FF6148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148"/>
              </a:solidFill>
              <a:ln w="9525" cap="flat">
                <a:solidFill>
                  <a:srgbClr val="FF61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00:00</c:v>
                  </c:pt>
                  <c:pt idx="1">
                    <c:v>00:30</c:v>
                  </c:pt>
                  <c:pt idx="2">
                    <c:v>01:30</c:v>
                  </c:pt>
                  <c:pt idx="3">
                    <c:v>02:05</c:v>
                  </c:pt>
                  <c:pt idx="4">
                    <c:v>02:30</c:v>
                  </c:pt>
                  <c:pt idx="5">
                    <c:v>03:00</c:v>
                  </c:pt>
                  <c:pt idx="6">
                    <c:v>03:30</c:v>
                  </c:pt>
                  <c:pt idx="7">
                    <c:v>04:00</c:v>
                  </c:pt>
                  <c:pt idx="8">
                    <c:v>04:30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16.8</c:v>
                </c:pt>
                <c:pt idx="1">
                  <c:v>17</c:v>
                </c:pt>
                <c:pt idx="2">
                  <c:v>18.2</c:v>
                </c:pt>
                <c:pt idx="3">
                  <c:v>18.9</c:v>
                </c:pt>
                <c:pt idx="4">
                  <c:v>19.4</c:v>
                </c:pt>
                <c:pt idx="5">
                  <c:v>19.9</c:v>
                </c:pt>
                <c:pt idx="6">
                  <c:v>20.2</c:v>
                </c:pt>
                <c:pt idx="7">
                  <c:v>20.45</c:v>
                </c:pt>
                <c:pt idx="8">
                  <c:v>20.6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 system</c:v>
                </c:pt>
              </c:strCache>
            </c:strRef>
          </c:tx>
          <c:spPr>
            <a:solidFill>
              <a:srgbClr val="8F8F9D"/>
            </a:solidFill>
            <a:ln w="25400" cap="flat">
              <a:solidFill>
                <a:srgbClr val="8F8F9D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F8F9D"/>
              </a:solidFill>
              <a:ln w="9525" cap="flat">
                <a:solidFill>
                  <a:srgbClr val="8F8F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00:00</c:v>
                  </c:pt>
                  <c:pt idx="1">
                    <c:v>00:30</c:v>
                  </c:pt>
                  <c:pt idx="2">
                    <c:v>01:30</c:v>
                  </c:pt>
                  <c:pt idx="3">
                    <c:v>02:05</c:v>
                  </c:pt>
                  <c:pt idx="4">
                    <c:v>02:30</c:v>
                  </c:pt>
                  <c:pt idx="5">
                    <c:v>03:00</c:v>
                  </c:pt>
                  <c:pt idx="6">
                    <c:v>03:30</c:v>
                  </c:pt>
                  <c:pt idx="7">
                    <c:v>04:00</c:v>
                  </c:pt>
                  <c:pt idx="8">
                    <c:v>04:30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16.8</c:v>
                </c:pt>
                <c:pt idx="1">
                  <c:v>16.8</c:v>
                </c:pt>
                <c:pt idx="2">
                  <c:v>16.8</c:v>
                </c:pt>
                <c:pt idx="3">
                  <c:v>16.87</c:v>
                </c:pt>
                <c:pt idx="4">
                  <c:v>17.2</c:v>
                </c:pt>
                <c:pt idx="5">
                  <c:v>17.6</c:v>
                </c:pt>
                <c:pt idx="6">
                  <c:v>18.1</c:v>
                </c:pt>
                <c:pt idx="7">
                  <c:v>18.5</c:v>
                </c:pt>
                <c:pt idx="8">
                  <c:v>18.8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Comfort target 20.5 °C</c:v>
                </c:pt>
              </c:strCache>
            </c:strRef>
          </c:tx>
          <c:spPr>
            <a:solidFill>
              <a:srgbClr val="2C5F2D"/>
            </a:solidFill>
            <a:ln w="25400" cap="flat">
              <a:solidFill>
                <a:srgbClr val="2C5F2D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00:00</c:v>
                  </c:pt>
                  <c:pt idx="1">
                    <c:v>00:30</c:v>
                  </c:pt>
                  <c:pt idx="2">
                    <c:v>01:30</c:v>
                  </c:pt>
                  <c:pt idx="3">
                    <c:v>02:05</c:v>
                  </c:pt>
                  <c:pt idx="4">
                    <c:v>02:30</c:v>
                  </c:pt>
                  <c:pt idx="5">
                    <c:v>03:00</c:v>
                  </c:pt>
                  <c:pt idx="6">
                    <c:v>03:30</c:v>
                  </c:pt>
                  <c:pt idx="7">
                    <c:v>04:00</c:v>
                  </c:pt>
                  <c:pt idx="8">
                    <c:v>04:30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20.5</c:v>
                </c:pt>
                <c:pt idx="1">
                  <c:v>20.5</c:v>
                </c:pt>
                <c:pt idx="2">
                  <c:v>20.5</c:v>
                </c:pt>
                <c:pt idx="3">
                  <c:v>20.5</c:v>
                </c:pt>
                <c:pt idx="4">
                  <c:v>20.5</c:v>
                </c:pt>
                <c:pt idx="5">
                  <c:v>20.5</c:v>
                </c:pt>
                <c:pt idx="6">
                  <c:v>20.5</c:v>
                </c:pt>
                <c:pt idx="7">
                  <c:v>20.5</c:v>
                </c:pt>
                <c:pt idx="8">
                  <c:v>20.5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8F9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16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8F9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9191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F24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0" kern="0" dirty="0">
                <a:solidFill>
                  <a:srgbClr val="DFE6E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ADAPTIVE PREDICTIVE PREHEAT CONTROL  ·  MOBILE &amp; TEMPORARY STRUCTURES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74236" y="1133856"/>
            <a:ext cx="1481328" cy="10607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pic>
        <p:nvPicPr>
          <p:cNvPr id="8" name="Image 0" descr="C:\Projects\Fenners-LBEnergy\assets\team-brand-assets\Fenner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94" y="1271016"/>
            <a:ext cx="784811" cy="7863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66460" y="1133856"/>
            <a:ext cx="457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BD5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✕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734556" y="1133856"/>
            <a:ext cx="1280160" cy="1060704"/>
          </a:xfrm>
          <a:prstGeom prst="rect">
            <a:avLst/>
          </a:prstGeom>
          <a:solidFill>
            <a:srgbClr val="FF6148"/>
          </a:solidFill>
          <a:ln/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pic>
        <p:nvPicPr>
          <p:cNvPr id="11" name="Image 1" descr="C:\Projects\Fenners-LBEnergy\slides\lb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037" y="1289304"/>
            <a:ext cx="445198" cy="7498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322576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  ×   LB ENERGY GMBH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087368" y="2798064"/>
            <a:ext cx="4014216" cy="20665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087368" y="2798064"/>
            <a:ext cx="2007108" cy="54864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15" name="Shape 11"/>
          <p:cNvSpPr/>
          <p:nvPr/>
        </p:nvSpPr>
        <p:spPr>
          <a:xfrm>
            <a:off x="6094476" y="2798064"/>
            <a:ext cx="2007108" cy="54864"/>
          </a:xfrm>
          <a:prstGeom prst="rect">
            <a:avLst/>
          </a:prstGeom>
          <a:solidFill>
            <a:srgbClr val="FF6148"/>
          </a:solidFill>
          <a:ln/>
        </p:spPr>
      </p:sp>
      <p:pic>
        <p:nvPicPr>
          <p:cNvPr id="16" name="Image 2" descr="C:\Projects\Fenners-LBEnergy\assets\OnQ-brand-assets\OnQ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108960"/>
            <a:ext cx="2276856" cy="151790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rot="2700000">
            <a:off x="5815584" y="5010912"/>
            <a:ext cx="137160" cy="137160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18" name="Shape 13"/>
          <p:cNvSpPr/>
          <p:nvPr/>
        </p:nvSpPr>
        <p:spPr>
          <a:xfrm rot="2700000">
            <a:off x="6025896" y="5010912"/>
            <a:ext cx="137160" cy="137160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19" name="Shape 14"/>
          <p:cNvSpPr/>
          <p:nvPr/>
        </p:nvSpPr>
        <p:spPr>
          <a:xfrm rot="2700000">
            <a:off x="6236208" y="5010912"/>
            <a:ext cx="137160" cy="137160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20" name="Shape 15"/>
          <p:cNvSpPr/>
          <p:nvPr/>
        </p:nvSpPr>
        <p:spPr>
          <a:xfrm>
            <a:off x="2253996" y="5486400"/>
            <a:ext cx="7680960" cy="96926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253996" y="55778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FC0C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⟨  Add team member names here  ⟩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253996" y="59070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 of the Future — Intelligent Control of Mobile Structures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2253996" y="61722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spc="100" kern="0" dirty="0">
                <a:solidFill>
                  <a:srgbClr val="CDD6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LB Energy GmbH × TUM Hackathon  ·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475488"/>
            <a:ext cx="109728" cy="10972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31520" y="475488"/>
            <a:ext cx="109728" cy="10972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96112" y="475488"/>
            <a:ext cx="109728" cy="10972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Knowing the optimal moment to heat — made dynamic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OnQ</a:t>
            </a:r>
            <a:pPr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Never Early · Never 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× LB Energy GmbH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56264" y="420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each booking, find the latest moment preheat must start so the room hits 21 °C exactly when people arrive — no earlier (waste), no later (cold).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 LB Energy it's harder: many building types — tents, halls, insulated containers — each with different walls, air-trapping and thermal mass.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And they're temporary — up and down on varying timeframes — so there is no recorded history for any specific structure. Every deployment is a cold start.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783080"/>
            <a:ext cx="5486400" cy="6400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01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Thin tent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185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very low insulation · tiny mass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921240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τ ≈ minutes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2624328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624328"/>
            <a:ext cx="5486400" cy="6400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Prefab container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medium insulation &amp; mass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921240" y="2788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5B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τ ≈ 1–4 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3465576"/>
            <a:ext cx="5486400" cy="6400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Lecture hall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insulation · large mass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21240" y="3630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956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τ ≈ 2–12 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4892040"/>
            <a:ext cx="11055096" cy="1234440"/>
          </a:xfrm>
          <a:prstGeom prst="rect">
            <a:avLst/>
          </a:prstGeom>
          <a:solidFill>
            <a:srgbClr val="FBEEEC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4892040"/>
            <a:ext cx="11055096" cy="6400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047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422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 DATA · TUM campus, 30 Mar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5358384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current system preheated a fixed </a:t>
            </a:r>
            <a:pPr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h 25 min</a:t>
            </a:r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ahead — the room was still </a:t>
            </a:r>
            <a:pPr indent="0" marL="0">
              <a:buNone/>
            </a:pPr>
            <a:r>
              <a:rPr lang="en-US" sz="1600" b="1" dirty="0">
                <a:solidFill>
                  <a:srgbClr val="F2422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2.2 °C too cold</a:t>
            </a:r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at event start, and did not reach 21 °C until </a:t>
            </a:r>
            <a:pPr indent="0" marL="0">
              <a:buNone/>
            </a:pPr>
            <a:r>
              <a:rPr lang="en-US" sz="1600" b="1" dirty="0">
                <a:solidFill>
                  <a:srgbClr val="F2422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~9 hours later</a:t>
            </a:r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475488"/>
            <a:ext cx="109728" cy="10972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31520" y="475488"/>
            <a:ext cx="109728" cy="10972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96112" y="475488"/>
            <a:ext cx="109728" cy="10972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WE'RE BUILDING ·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self-calibrating grey-box physics model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OnQ</a:t>
            </a:r>
            <a:pPr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Never Early · Never 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× LB Energy GmbH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56264" y="420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Separate the universal physics from the building-specific numbers.</a:t>
            </a:r>
            <a:endParaRPr lang="en-US" sz="14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thermal equation is the same for every building.</a:t>
            </a:r>
            <a:endParaRPr lang="en-US" sz="14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 3 parameters {β₁, β₂, β₃} differ — insulation, heating effectiveness, ambient gains.</a:t>
            </a:r>
            <a:endParaRPr lang="en-US" sz="14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They are fitted automatically from each building's own sensor telemetry.</a:t>
            </a:r>
            <a:endParaRPr lang="en-US" sz="14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Physics extrapolates by design — a tent-trained model would mis-predict a container; the same equation with different β works for both.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4370832"/>
            <a:ext cx="5212080" cy="640080"/>
          </a:xfrm>
          <a:prstGeom prst="rect">
            <a:avLst/>
          </a:prstGeom>
          <a:solidFill>
            <a:srgbClr val="191919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44439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dT/dt = β₁·(T_supply−T_room) + β₂·(T_room−T_out) + β₃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47365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τ = −1/β₂  is the building's insulation time constant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5486400" cy="2331720"/>
          </a:xfrm>
          <a:prstGeom prst="rect">
            <a:avLst/>
          </a:prstGeom>
          <a:solidFill>
            <a:srgbClr val="F1F1F1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901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956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IN → SELF-CALIBRATE → DECISION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2128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IHL heat-pump sensors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room temp · outside temp · supply-air temp · compressor / power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External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weather forecast (Open-Meteo) · power-grid stress / carbon intensity · calendar bookings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⟶  fit β₁, β₂, β₃  ⟶  optimal preheat start time  t*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4251960"/>
            <a:ext cx="5486400" cy="758952"/>
          </a:xfrm>
          <a:prstGeom prst="rect">
            <a:avLst/>
          </a:prstGeom>
          <a:solidFill>
            <a:srgbClr val="EAF3F0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4251960"/>
            <a:ext cx="5486400" cy="6400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33425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56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Grid-aware: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within the preheat window we shift heating toward cleaner, lower-stress grid hours — same comfort, lower CO₂ and peak load.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285232"/>
            <a:ext cx="11055096" cy="841248"/>
          </a:xfrm>
          <a:prstGeom prst="rect">
            <a:avLst/>
          </a:prstGeom>
          <a:solidFill>
            <a:srgbClr val="EAF1E9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5285232"/>
            <a:ext cx="11055096" cy="64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C5F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STATUS · DONE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5724144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Calibration + trajectory simulator built — </a:t>
            </a:r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0.17 °C</a:t>
            </a:r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ramp fit; preheat lead time derived at </a:t>
            </a:r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~4.1 h</a:t>
            </a:r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(cheap Mode-1 only).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475488"/>
            <a:ext cx="109728" cy="10972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31520" y="475488"/>
            <a:ext cx="109728" cy="10972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96112" y="475488"/>
            <a:ext cx="109728" cy="10972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WE'RE BUILDING ·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intelligent insights on top of the model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OnQ</a:t>
            </a:r>
            <a:pPr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Never Early · Never 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× LB Energy GmbH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56264" y="420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352958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783080"/>
            <a:ext cx="3529584" cy="6400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1984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5528" y="26243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Cost / energy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301752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 the cheap hot-water coil early so the expensive electric boost never fires.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386791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~71% less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5528" y="421538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preheat-window energy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79192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25696" y="1783080"/>
            <a:ext cx="352958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25696" y="1783080"/>
            <a:ext cx="3529584" cy="6400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20" name="Text 18"/>
          <p:cNvSpPr/>
          <p:nvPr/>
        </p:nvSpPr>
        <p:spPr>
          <a:xfrm>
            <a:off x="4654296" y="1984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54296" y="26243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Fault detection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54296" y="301752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Watch the gap between predicted and measured temperature; sustained drift = a fault.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54296" y="386791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5B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tomorrow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54296" y="421538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pipeline ready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0B75B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84464" y="1783080"/>
            <a:ext cx="352958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84464" y="1783080"/>
            <a:ext cx="3529584" cy="6400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28" name="Text 26"/>
          <p:cNvSpPr/>
          <p:nvPr/>
        </p:nvSpPr>
        <p:spPr>
          <a:xfrm>
            <a:off x="8513064" y="1984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🌱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513064" y="262432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Sustainability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13064" y="3017520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Convert saved kWh to CO₂ avoided, plus grid-aware scheduling &amp; what-if scenarios.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13064" y="386791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6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223 kg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513064" y="421538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CO₂ avoided / 7 mornings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396728" y="1965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00" kern="0" dirty="0">
                <a:solidFill>
                  <a:srgbClr val="1956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4754880"/>
            <a:ext cx="11055096" cy="1371600"/>
          </a:xfrm>
          <a:prstGeom prst="rect">
            <a:avLst/>
          </a:prstGeom>
          <a:solidFill>
            <a:srgbClr val="191919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86968" y="4919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SAVINGS MECHANISM WE FOUND IN THE DATA — TWO HEATING MODES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86968" y="5285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E3C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 1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fan + hot-water coil · ~4.7 kW · cheap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86968" y="5669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 2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electric boost · 53–73 kW · ~15× more expensive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766560" y="528523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7ECE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start Mode 1 ~4 h earlier and never trigger Mode 2 — using only setpoint timing, the one lever we actually have.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475488"/>
            <a:ext cx="109728" cy="10972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31520" y="475488"/>
            <a:ext cx="109728" cy="10972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96112" y="475488"/>
            <a:ext cx="109728" cy="10972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Who the insights are for — and how they touch them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OnQ</a:t>
            </a:r>
            <a:pPr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Never Early · Never 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× LB Energy GmbH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56264" y="420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51376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Stakeholder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Insight that matters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How they interact</a:t>
                      </a:r>
                      <a:endParaRPr lang="en-US" sz="13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567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Facility manager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Comfort guaranteed, no per-building setup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Calendar in → preheat auto-scheduled; fault alerts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567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LB Energy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One model scales to any new structure in ~3 days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Generalisation instead of per-site tuning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567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Operator / finance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€ saved, peak-demand boost avoided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What-if slider: setpoint · unit count · season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567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Sustainability / ESG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kWh &amp; CO₂ avoided, reportable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Seasonal savings summary + grid-aware timing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9567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Occupants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 21 °C room, on time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91919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Invisible — they just aren't cold</a:t>
                      </a:r>
                      <a:endParaRPr lang="en-US" sz="135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475488"/>
            <a:ext cx="109728" cy="10972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31520" y="475488"/>
            <a:ext cx="109728" cy="10972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96112" y="475488"/>
            <a:ext cx="109728" cy="10972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RESULTS SO FAR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Same day, same data — replayed through OnQ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OnQ</a:t>
            </a:r>
            <a:pPr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Never Early · Never 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× LB Energy GmbH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56264" y="420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828800"/>
            <a:ext cx="25420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828800"/>
            <a:ext cx="2542032" cy="6400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19385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 → 7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68096" y="237744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7 mornings on-time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(was 0/7)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944368"/>
            <a:ext cx="25420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944368"/>
            <a:ext cx="2542032" cy="6400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0540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9567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~71%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68096" y="349300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less preheat-window energy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8096" y="369417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Mode-1 only, no boost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25420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4059936"/>
            <a:ext cx="2542032" cy="6400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16966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75B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0.17 °C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68096" y="460857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heat-up ramp fit (RMSE)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8096" y="480974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physics matches reality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5175504"/>
            <a:ext cx="25420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5175504"/>
            <a:ext cx="2542032" cy="64008"/>
          </a:xfrm>
          <a:prstGeom prst="rect">
            <a:avLst/>
          </a:prstGeom>
          <a:solidFill>
            <a:srgbClr val="1E4268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528523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426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~4.1 h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68096" y="572414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calibrated preheat lead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8096" y="592531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vs blind 2 h 25 min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66160" y="1828800"/>
            <a:ext cx="8046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94760" y="19385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Room temperature on the 04:30 event morning</a:t>
            </a:r>
            <a:endParaRPr lang="en-US" sz="13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57600" y="2240280"/>
          <a:ext cx="7863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566928" y="5285232"/>
            <a:ext cx="11055096" cy="841248"/>
          </a:xfrm>
          <a:prstGeom prst="rect">
            <a:avLst/>
          </a:prstGeom>
          <a:solidFill>
            <a:srgbClr val="F1F1F1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41248" y="5376672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422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Honesty note:  </a:t>
            </a:r>
            <a:pPr indent="0" marL="0">
              <a:buNone/>
            </a:pPr>
            <a:r>
              <a:rPr lang="en-US" sz="125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current-system figures are observed; our comfort figure is the controller's prediction; savings are electrical, preheat-window only. Cooling-window backtest is still in progress.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475488"/>
            <a:ext cx="109728" cy="10972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31520" y="475488"/>
            <a:ext cx="109728" cy="10972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96112" y="475488"/>
            <a:ext cx="109728" cy="10972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DAY 3 · PLANNED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we'll build tomorrow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OnQ</a:t>
            </a:r>
            <a:pPr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Never Early · Never 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× LB Energy GmbH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56264" y="420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810512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1810512"/>
            <a:ext cx="5440680" cy="6400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" y="2084832"/>
            <a:ext cx="512064" cy="512064"/>
          </a:xfrm>
          <a:prstGeom prst="ellipse">
            <a:avLst/>
          </a:prstGeom>
          <a:solidFill>
            <a:srgbClr val="FF6148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35608" y="19751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Cross-window generalisation 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35608" y="2313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Fit β on the heating window, validate on the cooling window — insulation β₂ shouldn't change seasonally.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3368" y="1810512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1810512"/>
            <a:ext cx="5440680" cy="6400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18" name="Shape 16"/>
          <p:cNvSpPr/>
          <p:nvPr/>
        </p:nvSpPr>
        <p:spPr>
          <a:xfrm>
            <a:off x="6574536" y="2084832"/>
            <a:ext cx="512064" cy="512064"/>
          </a:xfrm>
          <a:prstGeom prst="ellipse">
            <a:avLst/>
          </a:prstGeom>
          <a:solidFill>
            <a:srgbClr val="FF6148"/>
          </a:solidFill>
          <a:ln/>
        </p:spPr>
      </p:sp>
      <p:sp>
        <p:nvSpPr>
          <p:cNvPr id="19" name="Text 17"/>
          <p:cNvSpPr/>
          <p:nvPr/>
        </p:nvSpPr>
        <p:spPr>
          <a:xfrm>
            <a:off x="6574536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42048" y="19751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Cooling-window precool controller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42048" y="2313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Symmetric to the heating one, to complete the currently-pending cooling backtest.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072384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072384"/>
            <a:ext cx="5440680" cy="64008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" y="3346704"/>
            <a:ext cx="512064" cy="512064"/>
          </a:xfrm>
          <a:prstGeom prst="ellipse">
            <a:avLst/>
          </a:prstGeom>
          <a:solidFill>
            <a:srgbClr val="19567B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35608" y="3236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Anomaly / fault early-warning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35608" y="35753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CUSUM on the prediction residual; test on a synthetic fault.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73368" y="3072384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73368" y="3072384"/>
            <a:ext cx="5440680" cy="64008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30" name="Shape 28"/>
          <p:cNvSpPr/>
          <p:nvPr/>
        </p:nvSpPr>
        <p:spPr>
          <a:xfrm>
            <a:off x="6574536" y="3346704"/>
            <a:ext cx="512064" cy="512064"/>
          </a:xfrm>
          <a:prstGeom prst="ellipse">
            <a:avLst/>
          </a:prstGeom>
          <a:solidFill>
            <a:srgbClr val="19567B"/>
          </a:solidFill>
          <a:ln/>
        </p:spPr>
      </p:sp>
      <p:sp>
        <p:nvSpPr>
          <p:cNvPr id="31" name="Text 29"/>
          <p:cNvSpPr/>
          <p:nvPr/>
        </p:nvSpPr>
        <p:spPr>
          <a:xfrm>
            <a:off x="6574536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42048" y="32369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ML residual corrector (LightGBM)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42048" y="35753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Learn what physics misses (solar, occupancy); disabled-safe so the RC model always stands alone.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334256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" y="4334256"/>
            <a:ext cx="5440680" cy="64008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36" name="Shape 34"/>
          <p:cNvSpPr/>
          <p:nvPr/>
        </p:nvSpPr>
        <p:spPr>
          <a:xfrm>
            <a:off x="768096" y="4608576"/>
            <a:ext cx="512064" cy="512064"/>
          </a:xfrm>
          <a:prstGeom prst="ellipse">
            <a:avLst/>
          </a:prstGeom>
          <a:solidFill>
            <a:srgbClr val="19567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4608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35608" y="4498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 dashboard (Streamlit)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435608" y="48371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Trajectory plot, savings, and a what-if slider.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73368" y="4334256"/>
            <a:ext cx="5440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73368" y="4334256"/>
            <a:ext cx="5440680" cy="64008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42" name="Shape 40"/>
          <p:cNvSpPr/>
          <p:nvPr/>
        </p:nvSpPr>
        <p:spPr>
          <a:xfrm>
            <a:off x="6574536" y="4608576"/>
            <a:ext cx="512064" cy="512064"/>
          </a:xfrm>
          <a:prstGeom prst="ellipse">
            <a:avLst/>
          </a:prstGeom>
          <a:solidFill>
            <a:srgbClr val="19567B"/>
          </a:solidFill>
          <a:ln/>
        </p:spPr>
      </p:sp>
      <p:sp>
        <p:nvSpPr>
          <p:cNvPr id="43" name="Text 41"/>
          <p:cNvSpPr/>
          <p:nvPr/>
        </p:nvSpPr>
        <p:spPr>
          <a:xfrm>
            <a:off x="6574536" y="4608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242048" y="4498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Uncertainty + safe-margin scheduling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242048" y="48371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6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Confidence interval on t*; fall back to a fixed offset if calibration fails.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Guaranteed demo:  </a:t>
            </a:r>
            <a:pPr indent="0" marL="0">
              <a:buNone/>
            </a:pPr>
            <a:r>
              <a:rPr lang="en-US" sz="1300" i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even if items 2–5 slip, the RC model alone tells the full story — 0.17 °C fit, ~4 h-early counterfactual, 0/7→7/7, ~71% energy.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475488"/>
            <a:ext cx="109728" cy="109728"/>
          </a:xfrm>
          <a:prstGeom prst="rect">
            <a:avLst/>
          </a:prstGeom>
          <a:solidFill>
            <a:srgbClr val="FF6148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31520" y="475488"/>
            <a:ext cx="109728" cy="109728"/>
          </a:xfrm>
          <a:prstGeom prst="rect">
            <a:avLst/>
          </a:prstGeom>
          <a:solidFill>
            <a:srgbClr val="0B75B7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896112" y="475488"/>
            <a:ext cx="109728" cy="109728"/>
          </a:xfrm>
          <a:prstGeom prst="rect">
            <a:avLst/>
          </a:prstGeom>
          <a:solidFill>
            <a:srgbClr val="19567B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LB ENERGY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 questions to sharpen the next steps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OnQ</a:t>
            </a:r>
            <a:pPr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Never Early · Never 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Fenners × LB Energy GmbH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56264" y="420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F9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874520"/>
            <a:ext cx="110550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" y="202082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35608" y="1965960"/>
            <a:ext cx="9957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Building footprint (m²), wall construction and glazing ratio — to validate calibrated β / τ.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2715768"/>
            <a:ext cx="11055096" cy="713232"/>
          </a:xfrm>
          <a:prstGeom prst="rect">
            <a:avLst/>
          </a:prstGeom>
          <a:solidFill>
            <a:srgbClr val="F6F7F8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28620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35608" y="2807208"/>
            <a:ext cx="9957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drove the setpoint switch to 21 °C at 02:05 UTC when the exported config says 0 min preheat?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3557016"/>
            <a:ext cx="110550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703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35608" y="3648456"/>
            <a:ext cx="9957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 the 43 kW power spike a real peak event or a measurement artefact?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98264"/>
            <a:ext cx="11055096" cy="713232"/>
          </a:xfrm>
          <a:prstGeom prst="rect">
            <a:avLst/>
          </a:prstGeom>
          <a:solidFill>
            <a:srgbClr val="F6F7F8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" y="45445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35608" y="4489704"/>
            <a:ext cx="9957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Rated COP / refrigerant type — to sharpen the energy-savings numbers.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" y="5239512"/>
            <a:ext cx="110550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14300" dist="38100" dir="8100000">
              <a:srgbClr val="191919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" y="538581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14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35608" y="5330952"/>
            <a:ext cx="9957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9191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production, is each heat pump a separate zone, or one space_id per hall?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OnQ — LB Energy x TUM Hackathon</dc:title>
  <dc:subject>PptxGenJS Presentation</dc:subject>
  <dc:creator>Team Fenners</dc:creator>
  <cp:lastModifiedBy>Team Fenners</cp:lastModifiedBy>
  <cp:revision>1</cp:revision>
  <dcterms:created xsi:type="dcterms:W3CDTF">2026-06-20T13:33:10Z</dcterms:created>
  <dcterms:modified xsi:type="dcterms:W3CDTF">2026-06-20T13:33:10Z</dcterms:modified>
</cp:coreProperties>
</file>